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【0:00-0:30】大家好，我演示的项目是 FinTrace-CN，一个 A 股的可验证金融研究 Agent。它要回答的问题是：当 AI 给出一条金融结论时，我们凭什么相信它？在 FinTrace 里，每一个结论都能追溯到数据来源和验证过程。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【0:30-1:10】普通金融问答最大的问题，是模型记忆、实时数据、计算结果和叙事混在一句话里，出了错不知道错在哪。所以 FinTrace 把系统拆成四层边界：Provider 只提供带来源、带时点的事实；财务计算全部由 Python 确定性引擎完成；每一步事实和依赖写进 Evidence Ledger 留痕；最后由 Validator 决定结论能不能放行。大模型在这里只做两件事：理解问题、生成叙事——它不拥有数据源选择权、计算权，也没有放行权。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【1:10-1:45】这是研究工作台的总览页。打开一个标的，能看到 RAW 收盘价、研究路径走到了哪一步、四个估值读数。注意中间：左边是事实摘要，右边是 AI 解读——右上角标着「模型叙事 · 需人工复核」，叙事和事实是分开呈现的。页面下方的证据台账里，每个数字都挂着 Evidence ID，随时可以点开溯源。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【1:45-2:15】行情页只认 RAW 原始价格，市值和估值都用它来算，不跟复权价混用。支持联网刷新，拉回最新收盘生成一个新的快照版本，旧版本全部保留、可以回放。如果某个复权口径没覆盖，页面就明确标注「未覆盖」，不会悄悄补值——宁可留空，也不编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【2:15-2:45】同行估值是服务层确定性算出来的：同一个行业、同一个时点、同一个口径去比较 PE 和 PB，用 IQR 剔除异常值，期间不匹配的直接剔除，银行保险这类不适用同业法的自动排除。这个例子里，茅台 PE 19.2 倍，高于同业中位 16 倍，但没触发异常剔除——结论是「估值不便宜」，并且注明依据是部分的，因为 PB 历史分位缺失。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【2:45-3:20】这是整个项目最核心的一页：证据与校验。每条事实都带来源、期间、截止和币种单位；Evidence DAG 记录派生关系——收盘价乘以总股本得到市值，再除以 TTM 净利得到 PE。Validator 做五项闸门检查。最关键的是底部这个阻断案例：把总股本证据删掉，估值和报告会被直接隐藏。系统宁可不出结论，也不让模型自己补一个数。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【3:20-3:45】AI Agent 页面里，模型负责理解问题和生成回答，但所有数字都来自工具调用和服务层计算，回答里内嵌 Evidence ID 引用，缺数据的维度它就明说「不参与判断」。右边是执行轨迹：每一步工具调用、耗时、tokens 和成本全部留痕，可以回放审计。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【3:45-4:10】最后用每日复盘收尾：演示数据永远带 synthetic_demo 标注，不会冒充实时行情；整个项目有一千七百多个离线测试做回归门禁，开源可复跑。我们想传达的就一句话：研究结果，应该经得起追问。谢谢大家，欢迎提问。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B4A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◆  </a:t>
            </a:r>
            <a:r>
              <a:rPr lang="en-US" sz="1250" kern="0" spc="3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FINTRACE / CN · A-SHARE RESEARCH 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1481328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AF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A股可验证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AF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金融研究 Agent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70332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9C1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把数据、计算、证据与模型叙事拆开——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9C1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 AI 生成的每一个金融结论，都有可追溯的来源和验证过程。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13892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项目演示 · 2026-09 · 开源可复跑</a:t>
            </a:r>
            <a:endParaRPr lang="en-US" sz="1300" dirty="0"/>
          </a:p>
        </p:txBody>
      </p:sp>
      <p:pic>
        <p:nvPicPr>
          <p:cNvPr id="6" name="Image 0" descr="C:\Users\LENOVO\FinTrace-CN\design_mockups\ppt\cover_land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371600"/>
            <a:ext cx="6108192" cy="34358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371600"/>
            <a:ext cx="6108192" cy="3435858"/>
          </a:xfrm>
          <a:prstGeom prst="rect">
            <a:avLst/>
          </a:prstGeom>
          <a:solidFill>
            <a:srgbClr val="191610">
              <a:alpha val="0"/>
            </a:srgbClr>
          </a:solidFill>
          <a:ln w="12700">
            <a:solidFill>
              <a:srgbClr val="5A534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23560" y="4880610"/>
            <a:ext cx="61081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研究工作台 · 落地页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3A35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FINTRACE / CN · 可信 A 股研究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360152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 / 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B4A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</a:t>
            </a:r>
            <a:r>
              <a:rPr lang="en-US" sz="1250" kern="0" spc="3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设计原则 · 为什么可信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拆开四层边界，模型只做叙事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700784"/>
            <a:ext cx="261518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883664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B4A8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①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2542032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Provider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2944368"/>
            <a:ext cx="221284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只提供带来源、时点、币种口径的事实（tushare / 本地快照）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17520" y="2679192"/>
            <a:ext cx="3749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37560" y="1700784"/>
            <a:ext cx="261518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1883664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B4A8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38728" y="2542032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确定性引擎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38728" y="2944368"/>
            <a:ext cx="221284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TTM、PE / PB / PS 等全部由 Python 计算，非模型生成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97880" y="2679192"/>
            <a:ext cx="3749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700784"/>
            <a:ext cx="261518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883664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B4A8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③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19088" y="2542032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Evidence Ledger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19088" y="2944368"/>
            <a:ext cx="221284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事实、公式与依赖关系全部留痕，可回放、可审计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78240" y="2679192"/>
            <a:ext cx="3749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98280" y="1700784"/>
            <a:ext cx="2615184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9448" y="1883664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B4A8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④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299448" y="2542032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Validator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299448" y="2944368"/>
            <a:ext cx="2212848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决定结论能否放行；关键证据缺失时直接阻断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1127455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681728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只负责：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理解研究问题 · 选择工具 · 生成叙事（标注「需人工复核」）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B554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不拥有：</a:t>
            </a:r>
            <a:r>
              <a:rPr lang="en-US" sz="140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数据源选择权 · 财务计算权 · 证据创建权 · Validator 放行权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E7E0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FINTRACE / CN · 可信 A 股研究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60152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 / 08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B4A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</a:t>
            </a:r>
            <a:r>
              <a:rPr lang="en-US" sz="1250" kern="0" spc="3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 · 研究总览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总览一页，事实与 AI 叙事分列</a:t>
            </a:r>
            <a:endParaRPr lang="en-US" sz="2700" dirty="0"/>
          </a:p>
        </p:txBody>
      </p:sp>
      <p:pic>
        <p:nvPicPr>
          <p:cNvPr id="4" name="Image 0" descr="C:\Users\LENOVO\FinTrace-CN\design_mockups\ppt\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9888"/>
            <a:ext cx="7726680" cy="43462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89888"/>
            <a:ext cx="7726680" cy="4346257"/>
          </a:xfrm>
          <a:prstGeom prst="rect">
            <a:avLst/>
          </a:prstGeom>
          <a:solidFill>
            <a:srgbClr val="191610">
              <a:alpha val="0"/>
            </a:srgbClr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809297"/>
            <a:ext cx="7726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研究总览 · 贵州茅台 600519.SH（快照 2026-09-28 · tushare）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85632" y="16276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0" y="1609344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事实摘要与 AI 解读分列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0" y="1938528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叙事卡带「需人工复核」标签，不与事实混排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85632" y="27614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61120" y="2743200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研究路径六步可视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961120" y="3072384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选择标的 → 快照 → 校验 → 估值 → AI 解读 → 报告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85632" y="389534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0" y="3877056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证据台账随身可查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961120" y="4206240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每个读数都挂着 Evidence ID，点开即达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85632" y="5138928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EFF2FA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85632" y="5138928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EV-V-011 · PE 19.2x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E7E0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FINTRACE / CN · 可信 A 股研究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60152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 / 08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B4A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</a:t>
            </a:r>
            <a:r>
              <a:rPr lang="en-US" sz="1250" kern="0" spc="3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 · 市场与行情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RAW 口径 + 版本化快照，缺口径不补值</a:t>
            </a:r>
            <a:endParaRPr lang="en-US" sz="2700" dirty="0"/>
          </a:p>
        </p:txBody>
      </p:sp>
      <p:pic>
        <p:nvPicPr>
          <p:cNvPr id="4" name="Image 0" descr="C:\Users\LENOVO\FinTrace-CN\design_mockups\ppt\mark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9888"/>
            <a:ext cx="7726680" cy="43462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89888"/>
            <a:ext cx="7726680" cy="4346257"/>
          </a:xfrm>
          <a:prstGeom prst="rect">
            <a:avLst/>
          </a:prstGeom>
          <a:solidFill>
            <a:srgbClr val="191610">
              <a:alpha val="0"/>
            </a:srgbClr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809297"/>
            <a:ext cx="7726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市场与行情 · 31 根日线 RAW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85632" y="16276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0" y="1609344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只用 RAW 原始价格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0" y="1938528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市值与同行估值不与复权价混用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85632" y="27614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61120" y="2743200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联网刷新生成新版本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961120" y="3072384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快照按时间版本化，旧版本可回放对比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85632" y="389534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0" y="3877056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未覆盖就明说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961120" y="4206240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QFQ / HFQ 未覆盖时标注留空，绝不补值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85632" y="5138928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EFF2FA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85632" y="513892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EV-Q-0129 · 1,243.88 元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E7E0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FINTRACE / CN · 可信 A 股研究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60152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 / 08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B4A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</a:t>
            </a:r>
            <a:r>
              <a:rPr lang="en-US" sz="1250" kern="0" spc="3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 · 同行估值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同行业、同时点、同口径的确定性估值</a:t>
            </a:r>
            <a:endParaRPr lang="en-US" sz="2700" dirty="0"/>
          </a:p>
        </p:txBody>
      </p:sp>
      <p:pic>
        <p:nvPicPr>
          <p:cNvPr id="4" name="Image 0" descr="C:\Users\LENOVO\FinTrace-CN\design_mockups\ppt\pe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9888"/>
            <a:ext cx="7726680" cy="43462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89888"/>
            <a:ext cx="7726680" cy="4346257"/>
          </a:xfrm>
          <a:prstGeom prst="rect">
            <a:avLst/>
          </a:prstGeom>
          <a:solidFill>
            <a:srgbClr val="191610">
              <a:alpha val="0"/>
            </a:srgbClr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809297"/>
            <a:ext cx="7726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同行估值 · 白酒行业 n=4 · IQR k=1.5（服务层计算）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85632" y="16276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0" y="1609344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估值由服务层算出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0" y="1938528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 / PB / PS 全部确定性计算，非模型生成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85632" y="27614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61120" y="2743200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异常值与口径处理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961120" y="3072384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IQR 剔异常；期间不匹配直接剔除，如古井贡酒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85632" y="389534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0" y="3877056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适用性边界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961120" y="4206240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银行、保险不适用同业法，系统自动排除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85632" y="5138928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FF2FA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85632" y="5138928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同业中位 16.0x · 本标的 19.2x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E7E0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FINTRACE / CN · 可信 A 股研究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60152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 / 08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B4A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 </a:t>
            </a:r>
            <a:r>
              <a:rPr lang="en-US" sz="1250" kern="0" spc="3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 · 证据与校验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证据链 + 闸门：缺证据就隐藏结论</a:t>
            </a:r>
            <a:endParaRPr lang="en-US" sz="2700" dirty="0"/>
          </a:p>
        </p:txBody>
      </p:sp>
      <p:pic>
        <p:nvPicPr>
          <p:cNvPr id="4" name="Image 0" descr="C:\Users\LENOVO\FinTrace-CN\design_mockups\ppt\evid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9888"/>
            <a:ext cx="7726680" cy="43462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89888"/>
            <a:ext cx="7726680" cy="4346257"/>
          </a:xfrm>
          <a:prstGeom prst="rect">
            <a:avLst/>
          </a:prstGeom>
          <a:solidFill>
            <a:srgbClr val="191610">
              <a:alpha val="0"/>
            </a:srgbClr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809297"/>
            <a:ext cx="7726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证据与校验 · Evidence DAG 与 Validator 闸门（含阻断案例）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85632" y="16276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0" y="1609344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事实带全溯源字段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0" y="1938528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来源、期间、截止、币种 / 单位一个不少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85632" y="27614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61120" y="2743200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Evidence DAG 记录派生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961120" y="3072384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价格 × 总股本 → 市值 → PE，依赖可回放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85632" y="389534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0" y="3877056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关键证据缺失即阻断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961120" y="4206240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估值与报告直接隐藏，模型不得自行补数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85632" y="5138928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FF2FA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85632" y="5138928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校验通过 12/12 · 1 项部分缺失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E7E0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FINTRACE / CN · 可信 A 股研究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60152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 / 08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B4A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 </a:t>
            </a:r>
            <a:r>
              <a:rPr lang="en-US" sz="1250" kern="0" spc="3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 · AI Agent 研究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有界工具调用，AI 叙事全程留痕</a:t>
            </a:r>
            <a:endParaRPr lang="en-US" sz="2700" dirty="0"/>
          </a:p>
        </p:txBody>
      </p:sp>
      <p:pic>
        <p:nvPicPr>
          <p:cNvPr id="4" name="Image 0" descr="C:\Users\LENOVO\FinTrace-CN\design_mockups\ppt\ag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9888"/>
            <a:ext cx="7726680" cy="43462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89888"/>
            <a:ext cx="7726680" cy="4346257"/>
          </a:xfrm>
          <a:prstGeom prst="rect">
            <a:avLst/>
          </a:prstGeom>
          <a:solidFill>
            <a:srgbClr val="191610">
              <a:alpha val="0"/>
            </a:srgbClr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809297"/>
            <a:ext cx="7726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Agent 研究 · 对话式研究 + 执行轨迹（可回放）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85632" y="16276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0" y="1609344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模型只写叙事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0" y="1938528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数字来自工具与服务层，回答内嵌 Evidence ID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85632" y="276148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61120" y="2743200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有界重试与降级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961120" y="3072384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工具失败返回 fallback 状态，不编造结果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85632" y="389534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0" y="3877056"/>
            <a:ext cx="2770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9161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轨迹与成本可审计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961120" y="4206240"/>
            <a:ext cx="277063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每步调用、耗时、tokens、成本全部留痕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85632" y="5138928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EFF2FA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85632" y="5138928"/>
            <a:ext cx="2651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4A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 次工具调用 · 8.0s · 重试 0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E7E0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FINTRACE / CN · 可信 A 股研究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60152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 / 08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6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B4A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◆  </a:t>
            </a:r>
            <a:r>
              <a:rPr lang="en-US" sz="1250" kern="0" spc="3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 · FinTrace-CN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566928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AF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研究结果，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AF8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应该经得起追问。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3977640"/>
            <a:ext cx="55778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C9C1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工程底座：离线测试 1700+ 全绿，CI 回归门禁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C9C1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诚实边界：演示数据带 synthetic_demo 标注，永不冒充实时行情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C9C1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开源可复跑 · 不构成投资建议 · 不连接券商账户</a:t>
            </a:r>
            <a:endParaRPr lang="en-US" sz="1500" dirty="0"/>
          </a:p>
        </p:txBody>
      </p:sp>
      <p:pic>
        <p:nvPicPr>
          <p:cNvPr id="5" name="Image 0" descr="C:\Users\LENOVO\FinTrace-CN\design_mockups\ppt\dail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481328"/>
            <a:ext cx="5285232" cy="297294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1481328"/>
            <a:ext cx="5285232" cy="2972943"/>
          </a:xfrm>
          <a:prstGeom prst="rect">
            <a:avLst/>
          </a:prstGeom>
          <a:solidFill>
            <a:srgbClr val="191610">
              <a:alpha val="0"/>
            </a:srgbClr>
          </a:solidFill>
          <a:ln w="12700">
            <a:solidFill>
              <a:srgbClr val="5A534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46520" y="4527423"/>
            <a:ext cx="5285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每日复盘 · 演示数据页（synthetic_demo）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3A35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FINTRACE / CN · 可信 A 股研究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60152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49B8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 / 08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1738</Words>
  <Application>WPS 演示</Application>
  <PresentationFormat>On-screen Show (16:9)</PresentationFormat>
  <Paragraphs>224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Georgia</vt:lpstr>
      <vt:lpstr>Georgia</vt:lpstr>
      <vt:lpstr>Georgia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FinTrace-CN · A股可验证金融研究 Agent</dc:title>
  <dc:creator>FinTrace-CN</dc:creator>
  <dc:subject>PptxGenJS Presentation</dc:subject>
  <cp:lastModifiedBy>Uchiha Obito Young</cp:lastModifiedBy>
  <cp:revision>3</cp:revision>
  <dcterms:created xsi:type="dcterms:W3CDTF">2026-09-29T04:51:00Z</dcterms:created>
  <dcterms:modified xsi:type="dcterms:W3CDTF">2026-09-29T05:47:59Z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A55E002C89874C15B892B3C0100F63DB_12</vt:lpwstr>
  </property>
</Properties>
</file>